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12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D80A8-F900-4AC6-A705-5E7C4D23E198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316AB-794D-4F1A-B54E-85D15FD0F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691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316AB-794D-4F1A-B54E-85D15FD0F30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764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google.com/url?sa=E&amp;q=https%3A%2F%2Fsvuniversity.edu.in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flipV="1">
            <a:off x="3196389" y="3114537"/>
            <a:ext cx="5855367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75619" y="2368744"/>
            <a:ext cx="70969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rPr lang="en-US" sz="36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Intelligent Campus Assistant 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57673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Calibri"/>
              </a:defRPr>
            </a:pPr>
            <a:r>
              <a:rPr sz="28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 Venkateswara University, Tirupati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16169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Calibri"/>
              </a:defRPr>
            </a:pPr>
            <a:r>
              <a:rPr sz="2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US" sz="2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 DataScience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5969" y="5303520"/>
            <a:ext cx="113562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C107"/>
                </a:solidFill>
                <a:latin typeface="Calibri"/>
              </a:defRPr>
            </a:pPr>
            <a:r>
              <a:rPr sz="2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r>
              <a:rPr sz="2400" dirty="0" err="1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dirty="0" err="1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amasani</a:t>
            </a:r>
            <a:r>
              <a:rPr lang="en-US" sz="2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Vishnu</a:t>
            </a:r>
            <a:r>
              <a:rPr lang="en-US" sz="2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vardhan</a:t>
            </a:r>
            <a:r>
              <a:rPr sz="2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Reddy  |  Guide:</a:t>
            </a:r>
            <a:r>
              <a:rPr lang="en-US" sz="2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Prof G Anjan Babu</a:t>
            </a:r>
            <a:r>
              <a:rPr sz="2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Dept. of</a:t>
            </a:r>
            <a:r>
              <a:rPr lang="en-US" sz="2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CS</a:t>
            </a:r>
            <a:r>
              <a:rPr sz="2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54DA3A-16B6-232E-518C-4C1A82DB9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8097" y="334073"/>
            <a:ext cx="1377815" cy="6462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80F8F72-40DE-6CD5-D897-C338C80FF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54" y="117370"/>
            <a:ext cx="816935" cy="97544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29B2034-14B4-A776-CF5F-701D83654D32}"/>
              </a:ext>
            </a:extLst>
          </p:cNvPr>
          <p:cNvSpPr txBox="1"/>
          <p:nvPr/>
        </p:nvSpPr>
        <p:spPr>
          <a:xfrm>
            <a:off x="834189" y="275428"/>
            <a:ext cx="48084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Aptos"/>
                <a:cs typeface="Segoe UI"/>
              </a:rPr>
              <a:t>SRI VENKATESWARA UNIVERSITY</a:t>
            </a:r>
            <a:r>
              <a:rPr lang="en-US" sz="2400" dirty="0">
                <a:solidFill>
                  <a:srgbClr val="0070C0"/>
                </a:solidFill>
                <a:latin typeface="Aptos"/>
                <a:cs typeface="Segoe UI"/>
              </a:rPr>
              <a:t>​</a:t>
            </a:r>
            <a:r>
              <a:rPr lang="en-US" sz="2400" dirty="0">
                <a:solidFill>
                  <a:srgbClr val="1E293B"/>
                </a:solidFill>
                <a:latin typeface="Aptos"/>
                <a:cs typeface="Segoe UI"/>
              </a:rPr>
              <a:t>​</a:t>
            </a:r>
          </a:p>
          <a:p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Accredited By </a:t>
            </a:r>
            <a:r>
              <a:rPr lang="en-US" dirty="0">
                <a:solidFill>
                  <a:srgbClr val="FF0000"/>
                </a:solidFill>
                <a:latin typeface="Aptos"/>
                <a:cs typeface="Segoe UI"/>
              </a:rPr>
              <a:t>‘NAAC’</a:t>
            </a:r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 With ‘</a:t>
            </a:r>
            <a:r>
              <a:rPr lang="en-US" dirty="0">
                <a:solidFill>
                  <a:srgbClr val="FF0000"/>
                </a:solidFill>
                <a:latin typeface="Aptos"/>
                <a:cs typeface="Segoe UI"/>
              </a:rPr>
              <a:t>A+’ Grade ​</a:t>
            </a:r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​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01985" y="1088772"/>
            <a:ext cx="1873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C107"/>
                </a:solidFill>
                <a:latin typeface="Calibri"/>
              </a:defRPr>
            </a:pPr>
            <a:r>
              <a:rPr lang="en-US" dirty="0">
                <a:solidFill>
                  <a:srgbClr val="1E293B"/>
                </a:solidFill>
              </a:rPr>
              <a:t>Agenda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750262" y="1735103"/>
            <a:ext cx="1696258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" y="2367819"/>
            <a:ext cx="350520" cy="31972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00193"/>
            <a:ext cx="4114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825019"/>
            <a:ext cx="350520" cy="31972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68297" y="2772640"/>
            <a:ext cx="21978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216382"/>
            <a:ext cx="350521" cy="319723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9290" y="3152990"/>
            <a:ext cx="1325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10" name="Oval 9"/>
          <p:cNvSpPr/>
          <p:nvPr/>
        </p:nvSpPr>
        <p:spPr>
          <a:xfrm>
            <a:off x="914401" y="3648856"/>
            <a:ext cx="350520" cy="31972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8297" y="3581115"/>
            <a:ext cx="21567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082598"/>
            <a:ext cx="350521" cy="31972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045179"/>
            <a:ext cx="1554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549901"/>
            <a:ext cx="350520" cy="341423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505638"/>
            <a:ext cx="24362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16" name="Oval 15"/>
          <p:cNvSpPr/>
          <p:nvPr/>
        </p:nvSpPr>
        <p:spPr>
          <a:xfrm>
            <a:off x="914399" y="5033130"/>
            <a:ext cx="350521" cy="341423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8297" y="4996253"/>
            <a:ext cx="2057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18" name="Oval 17"/>
          <p:cNvSpPr/>
          <p:nvPr/>
        </p:nvSpPr>
        <p:spPr>
          <a:xfrm>
            <a:off x="914399" y="5483859"/>
            <a:ext cx="350520" cy="35233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68297" y="5447089"/>
            <a:ext cx="28936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&amp; Results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5936001"/>
            <a:ext cx="350521" cy="31972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68297" y="5884839"/>
            <a:ext cx="15577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6378175"/>
            <a:ext cx="350521" cy="284824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6316754"/>
            <a:ext cx="14252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2B4F54-4C6F-312B-3497-FEBAF92D599A}"/>
              </a:ext>
            </a:extLst>
          </p:cNvPr>
          <p:cNvSpPr txBox="1"/>
          <p:nvPr/>
        </p:nvSpPr>
        <p:spPr>
          <a:xfrm>
            <a:off x="968752" y="335789"/>
            <a:ext cx="609971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Aptos"/>
                <a:cs typeface="Segoe UI"/>
              </a:rPr>
              <a:t>SRI VENKATESWARA UNIVERSITY</a:t>
            </a:r>
            <a:r>
              <a:rPr lang="en-US" sz="2400" dirty="0">
                <a:solidFill>
                  <a:srgbClr val="0070C0"/>
                </a:solidFill>
                <a:latin typeface="Aptos"/>
                <a:cs typeface="Segoe UI"/>
              </a:rPr>
              <a:t>​</a:t>
            </a:r>
            <a:r>
              <a:rPr lang="en-US" sz="2400" dirty="0">
                <a:solidFill>
                  <a:srgbClr val="1E293B"/>
                </a:solidFill>
                <a:latin typeface="Aptos"/>
                <a:cs typeface="Segoe UI"/>
              </a:rPr>
              <a:t>​</a:t>
            </a:r>
          </a:p>
          <a:p>
            <a:r>
              <a:rPr lang="en-US" sz="1800" dirty="0">
                <a:solidFill>
                  <a:srgbClr val="1E293B"/>
                </a:solidFill>
                <a:latin typeface="Aptos"/>
                <a:cs typeface="Segoe UI"/>
              </a:rPr>
              <a:t>Accredited By </a:t>
            </a:r>
            <a:r>
              <a:rPr lang="en-US" sz="1800" dirty="0">
                <a:solidFill>
                  <a:srgbClr val="FF0000"/>
                </a:solidFill>
                <a:latin typeface="Aptos"/>
                <a:cs typeface="Segoe UI"/>
              </a:rPr>
              <a:t>‘NAAC’</a:t>
            </a:r>
            <a:r>
              <a:rPr lang="en-US" sz="1800" dirty="0">
                <a:solidFill>
                  <a:srgbClr val="1E293B"/>
                </a:solidFill>
                <a:latin typeface="Aptos"/>
                <a:cs typeface="Segoe UI"/>
              </a:rPr>
              <a:t> With ‘</a:t>
            </a:r>
            <a:r>
              <a:rPr lang="en-US" sz="1800" dirty="0">
                <a:solidFill>
                  <a:srgbClr val="FF0000"/>
                </a:solidFill>
                <a:latin typeface="Aptos"/>
                <a:cs typeface="Segoe UI"/>
              </a:rPr>
              <a:t>A+’ Grade ​</a:t>
            </a:r>
            <a:r>
              <a:rPr lang="en-US" sz="1800" dirty="0">
                <a:solidFill>
                  <a:srgbClr val="1E293B"/>
                </a:solidFill>
                <a:latin typeface="Aptos"/>
                <a:cs typeface="Segoe UI"/>
              </a:rPr>
              <a:t>​</a:t>
            </a:r>
          </a:p>
        </p:txBody>
      </p:sp>
      <p:pic>
        <p:nvPicPr>
          <p:cNvPr id="29" name="Picture 28" descr="A logo of a mountain range&#10;&#10;Description automatically generated">
            <a:extLst>
              <a:ext uri="{FF2B5EF4-FFF2-40B4-BE49-F238E27FC236}">
                <a16:creationId xmlns:a16="http://schemas.microsoft.com/office/drawing/2014/main" id="{D71DEE45-D78A-13E1-E550-CFF0D8B3E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78" y="98434"/>
            <a:ext cx="814774" cy="97206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60A6F31-785D-FFC4-954A-BB804EA2C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8097" y="334073"/>
            <a:ext cx="1377815" cy="6462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3263" y="1072274"/>
            <a:ext cx="2743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C107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1809" y="1693205"/>
            <a:ext cx="2547833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2190" y="3480631"/>
            <a:ext cx="65167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rPr lang="en-US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Intelligent</a:t>
            </a: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 assistant chatbot developed for Sri Venkateswara University (SVU), Tirupati.</a:t>
            </a:r>
          </a:p>
        </p:txBody>
      </p:sp>
      <p:pic>
        <p:nvPicPr>
          <p:cNvPr id="5" name="Picture 4" descr="introduction_slide_17728769776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7810" y="2105890"/>
            <a:ext cx="4572000" cy="4572000"/>
          </a:xfrm>
          <a:prstGeom prst="rect">
            <a:avLst/>
          </a:prstGeom>
        </p:spPr>
      </p:pic>
      <p:pic>
        <p:nvPicPr>
          <p:cNvPr id="9" name="Picture 8" descr="A logo of a mountain range&#10;&#10;Description automatically generated">
            <a:extLst>
              <a:ext uri="{FF2B5EF4-FFF2-40B4-BE49-F238E27FC236}">
                <a16:creationId xmlns:a16="http://schemas.microsoft.com/office/drawing/2014/main" id="{100901A3-8C9B-2E1C-5DAA-B8BF4845FA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978" y="120736"/>
            <a:ext cx="814774" cy="9720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93D97F6-BEAB-28D0-C6AE-9BC0651D2B95}"/>
              </a:ext>
            </a:extLst>
          </p:cNvPr>
          <p:cNvSpPr txBox="1"/>
          <p:nvPr/>
        </p:nvSpPr>
        <p:spPr>
          <a:xfrm>
            <a:off x="1032604" y="367066"/>
            <a:ext cx="609971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Aptos"/>
                <a:cs typeface="Segoe UI"/>
              </a:rPr>
              <a:t>SRI VENKATESWARA UNIVERSITY</a:t>
            </a:r>
            <a:r>
              <a:rPr lang="en-US" sz="2400" dirty="0">
                <a:solidFill>
                  <a:srgbClr val="0070C0"/>
                </a:solidFill>
                <a:latin typeface="Aptos"/>
                <a:cs typeface="Segoe UI"/>
              </a:rPr>
              <a:t>​</a:t>
            </a:r>
            <a:r>
              <a:rPr lang="en-US" sz="2400" dirty="0">
                <a:solidFill>
                  <a:srgbClr val="1E293B"/>
                </a:solidFill>
                <a:latin typeface="Aptos"/>
                <a:cs typeface="Segoe UI"/>
              </a:rPr>
              <a:t>​</a:t>
            </a:r>
          </a:p>
          <a:p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Accredited By </a:t>
            </a:r>
            <a:r>
              <a:rPr lang="en-US" dirty="0">
                <a:solidFill>
                  <a:srgbClr val="FF0000"/>
                </a:solidFill>
                <a:latin typeface="Aptos"/>
                <a:cs typeface="Segoe UI"/>
              </a:rPr>
              <a:t>‘NAAC’</a:t>
            </a:r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 With ‘</a:t>
            </a:r>
            <a:r>
              <a:rPr lang="en-US" dirty="0">
                <a:solidFill>
                  <a:srgbClr val="FF0000"/>
                </a:solidFill>
                <a:latin typeface="Aptos"/>
                <a:cs typeface="Segoe UI"/>
              </a:rPr>
              <a:t>A+’ Grade ​</a:t>
            </a:r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​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678BDC8-1E94-AF97-39F6-3D056B4729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8097" y="334073"/>
            <a:ext cx="1377815" cy="6462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58211" y="1153306"/>
            <a:ext cx="548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C107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240876" y="1720772"/>
            <a:ext cx="3710247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8301" y="3271396"/>
            <a:ext cx="5605664" cy="1308553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1181" y="3454309"/>
            <a:ext cx="2743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F00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Fragmented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181" y="3836837"/>
            <a:ext cx="542278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Campus info is scattered across multiple websites, notice boards, and offices, making it hard for students to find quick answers.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47820" y="5224850"/>
            <a:ext cx="5605664" cy="1388926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9378" y="5305083"/>
            <a:ext cx="27431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F00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Queries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181" y="5791960"/>
            <a:ext cx="52080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spend excessive time visiting administrative offices for simple information like fee structures, exam schedules, or hostel rules.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4069" y="3267427"/>
            <a:ext cx="5878658" cy="1308552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8753" y="3451588"/>
            <a:ext cx="19560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F00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24/7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6949" y="3812475"/>
            <a:ext cx="58521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desks operate only during office hours, leaving students without assistance during evenings, weekends, or holidays.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4067" y="5224850"/>
            <a:ext cx="5878659" cy="1388926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08035" y="5329138"/>
            <a:ext cx="1701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F00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Systems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8035" y="5785467"/>
            <a:ext cx="582300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lack natural language understanding and cannot interpret student queries phrased in different ways or languages.</a:t>
            </a:r>
          </a:p>
        </p:txBody>
      </p:sp>
      <p:pic>
        <p:nvPicPr>
          <p:cNvPr id="20" name="Picture 19" descr="A logo of a mountain range&#10;&#10;Description automatically generated">
            <a:extLst>
              <a:ext uri="{FF2B5EF4-FFF2-40B4-BE49-F238E27FC236}">
                <a16:creationId xmlns:a16="http://schemas.microsoft.com/office/drawing/2014/main" id="{A2D13DFF-75AF-7D44-F645-5AB25D1AD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78" y="98434"/>
            <a:ext cx="814774" cy="97206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C6E443A-F1B2-4829-1FBC-1698A1563F9B}"/>
              </a:ext>
            </a:extLst>
          </p:cNvPr>
          <p:cNvSpPr txBox="1"/>
          <p:nvPr/>
        </p:nvSpPr>
        <p:spPr>
          <a:xfrm>
            <a:off x="968752" y="282543"/>
            <a:ext cx="609971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Aptos"/>
                <a:cs typeface="Segoe UI"/>
              </a:rPr>
              <a:t>SRI VENKATESWARA UNIVERSITY</a:t>
            </a:r>
            <a:r>
              <a:rPr lang="en-US" sz="2400" dirty="0">
                <a:solidFill>
                  <a:srgbClr val="0070C0"/>
                </a:solidFill>
                <a:latin typeface="Aptos"/>
                <a:cs typeface="Segoe UI"/>
              </a:rPr>
              <a:t>​</a:t>
            </a:r>
            <a:r>
              <a:rPr lang="en-US" sz="2400" dirty="0">
                <a:solidFill>
                  <a:srgbClr val="1E293B"/>
                </a:solidFill>
                <a:latin typeface="Aptos"/>
                <a:cs typeface="Segoe UI"/>
              </a:rPr>
              <a:t>​</a:t>
            </a:r>
          </a:p>
          <a:p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Accredited By </a:t>
            </a:r>
            <a:r>
              <a:rPr lang="en-US" dirty="0">
                <a:solidFill>
                  <a:srgbClr val="FF0000"/>
                </a:solidFill>
                <a:latin typeface="Aptos"/>
                <a:cs typeface="Segoe UI"/>
              </a:rPr>
              <a:t>‘NAAC’</a:t>
            </a:r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 With ‘</a:t>
            </a:r>
            <a:r>
              <a:rPr lang="en-US" dirty="0">
                <a:solidFill>
                  <a:srgbClr val="FF0000"/>
                </a:solidFill>
                <a:latin typeface="Aptos"/>
                <a:cs typeface="Segoe UI"/>
              </a:rPr>
              <a:t>A+’ Grade ​</a:t>
            </a:r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​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5CE69F9-5805-9F90-947B-FF465DDFB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8097" y="334073"/>
            <a:ext cx="1377815" cy="6462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40042" y="1034676"/>
            <a:ext cx="548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C107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39668" y="1632441"/>
            <a:ext cx="1828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2192120"/>
            <a:ext cx="5486400" cy="146304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228356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FA5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95040"/>
            <a:ext cx="5029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an AI-powered campus assistant that delivers accurate, context-aware campus information through a conversational web interface.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59" y="2192120"/>
            <a:ext cx="5486400" cy="146304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46519" y="228356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FA5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19" y="2695040"/>
            <a:ext cx="5029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Retrieval-Augmented Generation using domain-specific knowledge base with semantic search for high-accuracy responses.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38040"/>
            <a:ext cx="5486400" cy="146304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392948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FA5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Multi-turn Dialogue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340960"/>
            <a:ext cx="5029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conversational context management for follow-up queries and multi-turn interactions.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3838040"/>
            <a:ext cx="5486400" cy="146304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46519" y="392948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FA5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19" y="4340960"/>
            <a:ext cx="5029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 communication in English, Telugu, and Hindi to serve diverse student populations.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483960"/>
            <a:ext cx="5486400" cy="1103697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" y="557540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FA5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9868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</a:rPr>
              <a:t>Implement confidence-based response validation and fallback mechanisms to minimize hallucinations.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59" y="5483960"/>
            <a:ext cx="5486400" cy="1103697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6519" y="557540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FA5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19" y="59868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</a:rPr>
              <a:t>Provide an administrative dashboard for knowledge base management, FAQ curation, analytics, and system monitoring.</a:t>
            </a:r>
          </a:p>
        </p:txBody>
      </p:sp>
      <p:pic>
        <p:nvPicPr>
          <p:cNvPr id="25" name="Picture 24" descr="A logo of a mountain range&#10;&#10;Description automatically generated">
            <a:extLst>
              <a:ext uri="{FF2B5EF4-FFF2-40B4-BE49-F238E27FC236}">
                <a16:creationId xmlns:a16="http://schemas.microsoft.com/office/drawing/2014/main" id="{90276D07-5DAC-B689-9F3E-B27689867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78" y="98434"/>
            <a:ext cx="814774" cy="97206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D208B67-665A-97EB-BB0A-91D3F5A46239}"/>
              </a:ext>
            </a:extLst>
          </p:cNvPr>
          <p:cNvSpPr txBox="1"/>
          <p:nvPr/>
        </p:nvSpPr>
        <p:spPr>
          <a:xfrm>
            <a:off x="968752" y="331835"/>
            <a:ext cx="609971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Aptos"/>
                <a:cs typeface="Segoe UI"/>
              </a:rPr>
              <a:t>SRI VENKATESWARA UNIVERSITY</a:t>
            </a:r>
            <a:r>
              <a:rPr lang="en-US" sz="2400" dirty="0">
                <a:solidFill>
                  <a:srgbClr val="0070C0"/>
                </a:solidFill>
                <a:latin typeface="Aptos"/>
                <a:cs typeface="Segoe UI"/>
              </a:rPr>
              <a:t>​</a:t>
            </a:r>
            <a:r>
              <a:rPr lang="en-US" sz="2400" dirty="0">
                <a:solidFill>
                  <a:srgbClr val="1E293B"/>
                </a:solidFill>
                <a:latin typeface="Aptos"/>
                <a:cs typeface="Segoe UI"/>
              </a:rPr>
              <a:t>​</a:t>
            </a:r>
          </a:p>
          <a:p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Accredited By </a:t>
            </a:r>
            <a:r>
              <a:rPr lang="en-US" dirty="0">
                <a:solidFill>
                  <a:srgbClr val="FF0000"/>
                </a:solidFill>
                <a:latin typeface="Aptos"/>
                <a:cs typeface="Segoe UI"/>
              </a:rPr>
              <a:t>‘NAAC’</a:t>
            </a:r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 With ‘</a:t>
            </a:r>
            <a:r>
              <a:rPr lang="en-US" dirty="0">
                <a:solidFill>
                  <a:srgbClr val="FF0000"/>
                </a:solidFill>
                <a:latin typeface="Aptos"/>
                <a:cs typeface="Segoe UI"/>
              </a:rPr>
              <a:t>A+’ Grade ​</a:t>
            </a:r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​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ED4A535-D393-5886-0C34-EEC3D3D0F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8097" y="334073"/>
            <a:ext cx="1377815" cy="6462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6651" y="929927"/>
            <a:ext cx="42586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C107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1553507"/>
            <a:ext cx="27432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 descr="A logo of a mountain range&#10;&#10;Description automatically generated">
            <a:extLst>
              <a:ext uri="{FF2B5EF4-FFF2-40B4-BE49-F238E27FC236}">
                <a16:creationId xmlns:a16="http://schemas.microsoft.com/office/drawing/2014/main" id="{655E3E2C-67A1-96B0-1EC6-CC939354B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78" y="98434"/>
            <a:ext cx="814774" cy="97206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1526F5F-A62F-4F39-F40A-2C8C9B73020A}"/>
              </a:ext>
            </a:extLst>
          </p:cNvPr>
          <p:cNvSpPr txBox="1"/>
          <p:nvPr/>
        </p:nvSpPr>
        <p:spPr>
          <a:xfrm>
            <a:off x="1024411" y="261226"/>
            <a:ext cx="609971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Aptos"/>
                <a:cs typeface="Segoe UI"/>
              </a:rPr>
              <a:t>SRI VENKATESWARA UNIVERSITY</a:t>
            </a:r>
            <a:r>
              <a:rPr lang="en-US" sz="2400" dirty="0">
                <a:solidFill>
                  <a:srgbClr val="0070C0"/>
                </a:solidFill>
                <a:latin typeface="Aptos"/>
                <a:cs typeface="Segoe UI"/>
              </a:rPr>
              <a:t>​</a:t>
            </a:r>
            <a:r>
              <a:rPr lang="en-US" sz="2400" dirty="0">
                <a:solidFill>
                  <a:srgbClr val="1E293B"/>
                </a:solidFill>
                <a:latin typeface="Aptos"/>
                <a:cs typeface="Segoe UI"/>
              </a:rPr>
              <a:t>​</a:t>
            </a:r>
          </a:p>
          <a:p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Accredited By </a:t>
            </a:r>
            <a:r>
              <a:rPr lang="en-US" dirty="0">
                <a:solidFill>
                  <a:srgbClr val="FF0000"/>
                </a:solidFill>
                <a:latin typeface="Aptos"/>
                <a:cs typeface="Segoe UI"/>
              </a:rPr>
              <a:t>‘NAAC’</a:t>
            </a:r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 With ‘</a:t>
            </a:r>
            <a:r>
              <a:rPr lang="en-US" dirty="0">
                <a:solidFill>
                  <a:srgbClr val="FF0000"/>
                </a:solidFill>
                <a:latin typeface="Aptos"/>
                <a:cs typeface="Segoe UI"/>
              </a:rPr>
              <a:t>A+’ Grade ​</a:t>
            </a:r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​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23ED056-230C-3465-85CC-9FD9545B1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8097" y="334073"/>
            <a:ext cx="1377815" cy="646232"/>
          </a:xfrm>
          <a:prstGeom prst="rect">
            <a:avLst/>
          </a:prstGeom>
        </p:spPr>
      </p:pic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D6759271-A0F2-A309-ACB8-F4EC2BE6C7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756673"/>
              </p:ext>
            </p:extLst>
          </p:nvPr>
        </p:nvGraphicFramePr>
        <p:xfrm>
          <a:off x="299778" y="1699973"/>
          <a:ext cx="11592444" cy="494046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457257">
                  <a:extLst>
                    <a:ext uri="{9D8B030D-6E8A-4147-A177-3AD203B41FA5}">
                      <a16:colId xmlns:a16="http://schemas.microsoft.com/office/drawing/2014/main" val="1958474226"/>
                    </a:ext>
                  </a:extLst>
                </a:gridCol>
                <a:gridCol w="1951534">
                  <a:extLst>
                    <a:ext uri="{9D8B030D-6E8A-4147-A177-3AD203B41FA5}">
                      <a16:colId xmlns:a16="http://schemas.microsoft.com/office/drawing/2014/main" val="510991786"/>
                    </a:ext>
                  </a:extLst>
                </a:gridCol>
                <a:gridCol w="1315012">
                  <a:extLst>
                    <a:ext uri="{9D8B030D-6E8A-4147-A177-3AD203B41FA5}">
                      <a16:colId xmlns:a16="http://schemas.microsoft.com/office/drawing/2014/main" val="902137208"/>
                    </a:ext>
                  </a:extLst>
                </a:gridCol>
                <a:gridCol w="1888581">
                  <a:extLst>
                    <a:ext uri="{9D8B030D-6E8A-4147-A177-3AD203B41FA5}">
                      <a16:colId xmlns:a16="http://schemas.microsoft.com/office/drawing/2014/main" val="4204539371"/>
                    </a:ext>
                  </a:extLst>
                </a:gridCol>
                <a:gridCol w="1727702">
                  <a:extLst>
                    <a:ext uri="{9D8B030D-6E8A-4147-A177-3AD203B41FA5}">
                      <a16:colId xmlns:a16="http://schemas.microsoft.com/office/drawing/2014/main" val="1855413417"/>
                    </a:ext>
                  </a:extLst>
                </a:gridCol>
                <a:gridCol w="2126179">
                  <a:extLst>
                    <a:ext uri="{9D8B030D-6E8A-4147-A177-3AD203B41FA5}">
                      <a16:colId xmlns:a16="http://schemas.microsoft.com/office/drawing/2014/main" val="2226174677"/>
                    </a:ext>
                  </a:extLst>
                </a:gridCol>
                <a:gridCol w="2126179">
                  <a:extLst>
                    <a:ext uri="{9D8B030D-6E8A-4147-A177-3AD203B41FA5}">
                      <a16:colId xmlns:a16="http://schemas.microsoft.com/office/drawing/2014/main" val="3059214570"/>
                    </a:ext>
                  </a:extLst>
                </a:gridCol>
              </a:tblGrid>
              <a:tr h="3574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 / Date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/ Tech Stack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 / Metrics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 to Our University Chatbot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Area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643107"/>
                  </a:ext>
                </a:extLst>
              </a:tr>
              <a:tr h="9416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Generative AI-Driven Chatbot for Personalized University Information and Assistance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 ICAIQSA, Feb 2025 (IEEE Xplore)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RAG Framework, Vector Database, LLM embeddings for document retrieval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significantly reduced hallucination rate; high context awareness for specific institutional queries.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Direct Blueprint: Validates our architecture (MongoDB Vector Search + RAG) for handling PDF handbooks and admissions data accurately.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Admissions &amp; General Info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/>
                </a:tc>
                <a:extLst>
                  <a:ext uri="{0D108BD9-81ED-4DB2-BD59-A6C34878D82A}">
                    <a16:rowId xmlns:a16="http://schemas.microsoft.com/office/drawing/2014/main" val="2286278688"/>
                  </a:ext>
                </a:extLst>
              </a:tr>
              <a:tr h="9416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Retrieval-Augmented Generation (RAG) Chatbots for Education: A Survey of Applications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 IEEE Access / MDPI (Survey)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Systematic review of RAG vs. Fine-tuning in educational settings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RAG is superior for handling dynamic data (fees, timetables) without retraining; solves the "static knowledge" limit.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Justification: Provides the academic backing for choosing RAG over a simple rule-based or pure LLM approach for SVU.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Educational RAG Survey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/>
                </a:tc>
                <a:extLst>
                  <a:ext uri="{0D108BD9-81ED-4DB2-BD59-A6C34878D82A}">
                    <a16:rowId xmlns:a16="http://schemas.microsoft.com/office/drawing/2014/main" val="1766055057"/>
                  </a:ext>
                </a:extLst>
              </a:tr>
              <a:tr h="7831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 err="1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Unimib</a:t>
                      </a: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Assistant: Designing a Student-Friendly RAG-Based Chatbot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 </a:t>
                      </a:r>
                      <a:r>
                        <a:rPr lang="en-US" sz="1100" kern="100" dirty="0" err="1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AIxHMI</a:t>
                      </a: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Workshop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GPTs, Hybrid Retrieval (Semantic + Keyword), User-Centric Design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user satisfaction in resolving specific student needs; improved engagement via personalized answers.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UX Patterns: Offers design insights for our "Study Buddy" and "Career Center" modules to ensure student friendliness.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Experience (UX)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/>
                </a:tc>
                <a:extLst>
                  <a:ext uri="{0D108BD9-81ED-4DB2-BD59-A6C34878D82A}">
                    <a16:rowId xmlns:a16="http://schemas.microsoft.com/office/drawing/2014/main" val="162568272"/>
                  </a:ext>
                </a:extLst>
              </a:tr>
              <a:tr h="9416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and Evaluation of a University Chatbot Using Deep Learning: A RAG Approach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 CONVERSATIONS Workshop</a:t>
                      </a:r>
                      <a:endParaRPr lang="en-US" sz="1100" kern="10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Learning, Python-based RAG pipeline, BLEU/ROUGE metrics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Established benchmarks for accuracy and response quality in a university domain.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Strategy: benchmarks for our Admin Dashboard analytics (e.g., measuring query accuracy and user feedback).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Evaluation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/>
                </a:tc>
                <a:extLst>
                  <a:ext uri="{0D108BD9-81ED-4DB2-BD59-A6C34878D82A}">
                    <a16:rowId xmlns:a16="http://schemas.microsoft.com/office/drawing/2014/main" val="2311581508"/>
                  </a:ext>
                </a:extLst>
              </a:tr>
              <a:tr h="7831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 and RAG Powered Chatbot for the College of Computer Science and Mathematics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Oct 2024 (ResearchGate/IEEE)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Department-specific knowledge base, </a:t>
                      </a:r>
                      <a:r>
                        <a:rPr lang="en-US" sz="1100" kern="100" dirty="0" err="1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LLaMA</a:t>
                      </a: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-based text generation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Demonstrated ability to provide immediate, specialized support for specific faculties.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Scalability: Proves our system can be scaled to specific SVU departments (e.g., College of Sciences, Engineering) effectively.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Departmental Support</a:t>
                      </a:r>
                      <a:endParaRPr lang="en-US" sz="1100" kern="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2" marR="51102" marT="0" marB="0" anchor="ctr"/>
                </a:tc>
                <a:extLst>
                  <a:ext uri="{0D108BD9-81ED-4DB2-BD59-A6C34878D82A}">
                    <a16:rowId xmlns:a16="http://schemas.microsoft.com/office/drawing/2014/main" val="2674903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39619" y="1029345"/>
            <a:ext cx="30265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C107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9577" y="1621759"/>
            <a:ext cx="2610926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2203066"/>
            <a:ext cx="1737360" cy="274320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1051560" y="2340226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80306"/>
            <a:ext cx="1554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73E8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 Base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20386"/>
            <a:ext cx="15544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Structured campus data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(PDFs, websites, FAQs)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ingested &amp; chunked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83890" y="3197816"/>
            <a:ext cx="137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107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2203066"/>
            <a:ext cx="1737360" cy="274320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3019926" y="2340226"/>
            <a:ext cx="548640" cy="548640"/>
          </a:xfrm>
          <a:prstGeom prst="ellipse">
            <a:avLst/>
          </a:prstGeom>
          <a:solidFill>
            <a:srgbClr val="009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980306"/>
            <a:ext cx="1554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FA5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620386"/>
            <a:ext cx="15544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all-MiniLM-L6-v2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384-dim vectors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stored in MongoDB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5914" y="3242456"/>
            <a:ext cx="182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107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203066"/>
            <a:ext cx="1737360" cy="274320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4940166" y="2340226"/>
            <a:ext cx="548640" cy="548640"/>
          </a:xfrm>
          <a:prstGeom prst="ellipse">
            <a:avLst/>
          </a:prstGeom>
          <a:solidFill>
            <a:srgbClr val="6C3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7246" y="2980306"/>
            <a:ext cx="1554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4DFF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7246" y="3620386"/>
            <a:ext cx="15544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Intent classification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query rephrasing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 Fast 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95736" y="3300346"/>
            <a:ext cx="182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107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203066"/>
            <a:ext cx="1737360" cy="274320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6860406" y="2340226"/>
            <a:ext cx="548640" cy="548640"/>
          </a:xfrm>
          <a:prstGeom prst="ellipse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7486" y="2980306"/>
            <a:ext cx="1554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F00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7486" y="3620386"/>
            <a:ext cx="15544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 similarity +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Keyword search +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RRF fusion (k=60)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2420" y="3300346"/>
            <a:ext cx="182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107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2203066"/>
            <a:ext cx="1737360" cy="274320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8780646" y="2340226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7726" y="2980306"/>
            <a:ext cx="1554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73E8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Assembly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7726" y="3620386"/>
            <a:ext cx="15544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Top-k docs merged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chat history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user 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4560" y="3323606"/>
            <a:ext cx="182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107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8110" y="2256019"/>
            <a:ext cx="1604770" cy="2690247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10484099" y="2416439"/>
            <a:ext cx="548640" cy="54864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81179" y="2980306"/>
            <a:ext cx="1554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76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3627619"/>
            <a:ext cx="15544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Llama 3.3-70B via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 err="1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generates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validated answer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991186"/>
            <a:ext cx="11247120" cy="155448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0080" y="508262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Methodology Features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448386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Cosine similarity threshold ≥ 0.60 for quality control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Reciprocal Rank Fusion (RRF) combines vector + keyword results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Session history trimming (last 10 messages) prevents token overflow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448386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Multi-language support: English, Telugu, Hindi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Entity extraction for contextual awareness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Confidence-based fallback: 'Info not available' for low confidence</a:t>
            </a:r>
          </a:p>
        </p:txBody>
      </p:sp>
      <p:pic>
        <p:nvPicPr>
          <p:cNvPr id="40" name="Picture 39" descr="A logo of a mountain range&#10;&#10;Description automatically generated">
            <a:extLst>
              <a:ext uri="{FF2B5EF4-FFF2-40B4-BE49-F238E27FC236}">
                <a16:creationId xmlns:a16="http://schemas.microsoft.com/office/drawing/2014/main" id="{61B8BC89-5F64-9888-4593-0471390EF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78" y="98434"/>
            <a:ext cx="814774" cy="972065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9A22E86A-0D1E-42A9-4226-F514A5F23FAF}"/>
              </a:ext>
            </a:extLst>
          </p:cNvPr>
          <p:cNvSpPr txBox="1"/>
          <p:nvPr/>
        </p:nvSpPr>
        <p:spPr>
          <a:xfrm>
            <a:off x="968752" y="282411"/>
            <a:ext cx="609971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Aptos"/>
                <a:cs typeface="Segoe UI"/>
              </a:rPr>
              <a:t>SRI VENKATESWARA UNIVERSITY</a:t>
            </a:r>
            <a:r>
              <a:rPr lang="en-US" sz="2400" dirty="0">
                <a:solidFill>
                  <a:srgbClr val="0070C0"/>
                </a:solidFill>
                <a:latin typeface="Aptos"/>
                <a:cs typeface="Segoe UI"/>
              </a:rPr>
              <a:t>​</a:t>
            </a:r>
            <a:r>
              <a:rPr lang="en-US" sz="2400" dirty="0">
                <a:solidFill>
                  <a:srgbClr val="1E293B"/>
                </a:solidFill>
                <a:latin typeface="Aptos"/>
                <a:cs typeface="Segoe UI"/>
              </a:rPr>
              <a:t>​</a:t>
            </a:r>
          </a:p>
          <a:p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Accredited By </a:t>
            </a:r>
            <a:r>
              <a:rPr lang="en-US" dirty="0">
                <a:solidFill>
                  <a:srgbClr val="FF0000"/>
                </a:solidFill>
                <a:latin typeface="Aptos"/>
                <a:cs typeface="Segoe UI"/>
              </a:rPr>
              <a:t>‘NAAC’</a:t>
            </a:r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 With ‘</a:t>
            </a:r>
            <a:r>
              <a:rPr lang="en-US" dirty="0">
                <a:solidFill>
                  <a:srgbClr val="FF0000"/>
                </a:solidFill>
                <a:latin typeface="Aptos"/>
                <a:cs typeface="Segoe UI"/>
              </a:rPr>
              <a:t>A+’ Grade ​</a:t>
            </a:r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​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3410F691-F236-074C-6A21-1D7A0B37E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8097" y="334073"/>
            <a:ext cx="1377815" cy="6462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57964" y="1059133"/>
            <a:ext cx="4059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C107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363258" y="1677524"/>
            <a:ext cx="3526443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871553"/>
            <a:ext cx="2743200" cy="5029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917273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511633"/>
            <a:ext cx="2743200" cy="82296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557353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3E8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3.12+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77393"/>
            <a:ext cx="24688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programming language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471753"/>
            <a:ext cx="2743200" cy="82296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3517473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3E8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37513"/>
            <a:ext cx="24688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High-performance async web framework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431873"/>
            <a:ext cx="2743200" cy="82296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4477593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3E8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Uvicorn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797633"/>
            <a:ext cx="24688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ASGI server for production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391993"/>
            <a:ext cx="2743200" cy="82296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5437713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3E8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Pydantic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757753"/>
            <a:ext cx="24688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 &amp; serialization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1871553"/>
            <a:ext cx="2743200" cy="502920"/>
          </a:xfrm>
          <a:prstGeom prst="rect">
            <a:avLst/>
          </a:prstGeom>
          <a:solidFill>
            <a:srgbClr val="6C3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83280" y="1917273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/ ML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511633"/>
            <a:ext cx="2743200" cy="82296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29000" y="2557353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4DFF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LangChain 0.2.6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2877393"/>
            <a:ext cx="24688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 pipeline orchestration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3471753"/>
            <a:ext cx="2743200" cy="82296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429000" y="3517473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4DFF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Groq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3837513"/>
            <a:ext cx="24688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inference (Llama 3.3-70B)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4431873"/>
            <a:ext cx="2743200" cy="82296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429000" y="4477593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4DFF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HuggingFace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4797633"/>
            <a:ext cx="24688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Sentence-BERT embeddings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5391993"/>
            <a:ext cx="2743200" cy="82296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429000" y="5437713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4DFF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DuckDuckGo 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5757753"/>
            <a:ext cx="24688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search augmentation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1871553"/>
            <a:ext cx="2743200" cy="502920"/>
          </a:xfrm>
          <a:prstGeom prst="rect">
            <a:avLst/>
          </a:prstGeom>
          <a:solidFill>
            <a:srgbClr val="009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09360" y="1917273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511633"/>
            <a:ext cx="2743200" cy="82296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355080" y="2557353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FA5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MongoDB Atlas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877393"/>
            <a:ext cx="24688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NoSQL database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471753"/>
            <a:ext cx="2743200" cy="82296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355080" y="3517473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FA5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Atlas Vector Search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3837513"/>
            <a:ext cx="24688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 indexing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4431873"/>
            <a:ext cx="2743200" cy="82296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355080" y="4477593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FA5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PyMongo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797633"/>
            <a:ext cx="24688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MongoDB driver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5391993"/>
            <a:ext cx="2743200" cy="82296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355080" y="5437713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FA5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GridFS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5757753"/>
            <a:ext cx="24688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storage for uploads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0" y="1871553"/>
            <a:ext cx="2743200" cy="50292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235440" y="1917273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0" y="2511633"/>
            <a:ext cx="2743200" cy="82296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281160" y="2557353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F00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HTML5 / CSS3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60" y="2877393"/>
            <a:ext cx="24688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and styling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0" y="3471753"/>
            <a:ext cx="2743200" cy="82296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281160" y="3517473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F00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 (Vanilla)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81160" y="3837513"/>
            <a:ext cx="24688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Client-side interactivity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0" y="4431873"/>
            <a:ext cx="2743200" cy="82296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281160" y="4477593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F00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Jinja2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81160" y="4797633"/>
            <a:ext cx="24688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Server-side templating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44000" y="5391993"/>
            <a:ext cx="2743200" cy="82296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281160" y="5437713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F00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PWA / Service Worker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81160" y="5757753"/>
            <a:ext cx="24688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Offline support &amp; caching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6319211"/>
            <a:ext cx="11521440" cy="47806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94360" y="647138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</a:rPr>
              <a:t> Security: </a:t>
            </a:r>
            <a:r>
              <a:rPr dirty="0" err="1">
                <a:solidFill>
                  <a:srgbClr val="1E293B"/>
                </a:solidFill>
              </a:rPr>
              <a:t>bcrypt</a:t>
            </a:r>
            <a:r>
              <a:rPr dirty="0">
                <a:solidFill>
                  <a:srgbClr val="1E293B"/>
                </a:solidFill>
              </a:rPr>
              <a:t> + </a:t>
            </a:r>
            <a:r>
              <a:rPr dirty="0" err="1">
                <a:solidFill>
                  <a:srgbClr val="1E293B"/>
                </a:solidFill>
              </a:rPr>
              <a:t>passlib</a:t>
            </a:r>
            <a:r>
              <a:rPr dirty="0">
                <a:solidFill>
                  <a:srgbClr val="1E293B"/>
                </a:solidFill>
              </a:rPr>
              <a:t> (password hashing)  |  python-</a:t>
            </a:r>
            <a:r>
              <a:rPr dirty="0" err="1">
                <a:solidFill>
                  <a:srgbClr val="1E293B"/>
                </a:solidFill>
              </a:rPr>
              <a:t>jose</a:t>
            </a:r>
            <a:r>
              <a:rPr dirty="0">
                <a:solidFill>
                  <a:srgbClr val="1E293B"/>
                </a:solidFill>
              </a:rPr>
              <a:t> (JWT tokens)  |  </a:t>
            </a:r>
            <a:r>
              <a:rPr dirty="0" err="1">
                <a:solidFill>
                  <a:srgbClr val="1E293B"/>
                </a:solidFill>
              </a:rPr>
              <a:t>Authlib</a:t>
            </a:r>
            <a:r>
              <a:rPr dirty="0">
                <a:solidFill>
                  <a:srgbClr val="1E293B"/>
                </a:solidFill>
              </a:rPr>
              <a:t> (Google OAuth)  |  CORS Middleware  |  Session Middleware</a:t>
            </a:r>
          </a:p>
        </p:txBody>
      </p:sp>
      <p:pic>
        <p:nvPicPr>
          <p:cNvPr id="65" name="Picture 64" descr="A logo of a mountain range&#10;&#10;Description automatically generated">
            <a:extLst>
              <a:ext uri="{FF2B5EF4-FFF2-40B4-BE49-F238E27FC236}">
                <a16:creationId xmlns:a16="http://schemas.microsoft.com/office/drawing/2014/main" id="{77E4447E-5F86-0E2A-BB6E-451D355C6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78" y="98434"/>
            <a:ext cx="814774" cy="972065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3D8EC372-BAB4-10AC-2DD1-46C678884D63}"/>
              </a:ext>
            </a:extLst>
          </p:cNvPr>
          <p:cNvSpPr txBox="1"/>
          <p:nvPr/>
        </p:nvSpPr>
        <p:spPr>
          <a:xfrm>
            <a:off x="968752" y="244974"/>
            <a:ext cx="609971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Aptos"/>
                <a:cs typeface="Segoe UI"/>
              </a:rPr>
              <a:t>SRI VENKATESWARA UNIVERSITY</a:t>
            </a:r>
            <a:r>
              <a:rPr lang="en-US" sz="2400" dirty="0">
                <a:solidFill>
                  <a:srgbClr val="0070C0"/>
                </a:solidFill>
                <a:latin typeface="Aptos"/>
                <a:cs typeface="Segoe UI"/>
              </a:rPr>
              <a:t>​</a:t>
            </a:r>
            <a:r>
              <a:rPr lang="en-US" sz="2400" dirty="0">
                <a:solidFill>
                  <a:srgbClr val="1E293B"/>
                </a:solidFill>
                <a:latin typeface="Aptos"/>
                <a:cs typeface="Segoe UI"/>
              </a:rPr>
              <a:t>​</a:t>
            </a:r>
          </a:p>
          <a:p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Accredited By </a:t>
            </a:r>
            <a:r>
              <a:rPr lang="en-US" dirty="0">
                <a:solidFill>
                  <a:srgbClr val="FF0000"/>
                </a:solidFill>
                <a:latin typeface="Aptos"/>
                <a:cs typeface="Segoe UI"/>
              </a:rPr>
              <a:t>‘NAAC’</a:t>
            </a:r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 With ‘</a:t>
            </a:r>
            <a:r>
              <a:rPr lang="en-US" dirty="0">
                <a:solidFill>
                  <a:srgbClr val="FF0000"/>
                </a:solidFill>
                <a:latin typeface="Aptos"/>
                <a:cs typeface="Segoe UI"/>
              </a:rPr>
              <a:t>A+’ Grade ​</a:t>
            </a:r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​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545C0D8A-C633-C8A8-9B21-2B8445FDF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8097" y="334073"/>
            <a:ext cx="1377815" cy="6462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83891" y="910209"/>
            <a:ext cx="46001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C107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994726" y="1501506"/>
            <a:ext cx="3930073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ystem_architecture_17728770197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02494"/>
            <a:ext cx="5943600" cy="461486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675120" y="1661526"/>
            <a:ext cx="5029200" cy="114300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0" y="1707246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027286"/>
            <a:ext cx="4754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HTML5/CSS3/JavaScript web interface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Jinja2 templating, AJAX async calls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PWA with Service Worker support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2941686"/>
            <a:ext cx="5029200" cy="114300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2987406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A5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307446"/>
            <a:ext cx="4754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 (Python) REST API server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modular routers: Auth, Chat, Admin,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Tickets, Calendar, Study Buddy, Career, Notifications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4221846"/>
            <a:ext cx="5029200" cy="114300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0" y="4267566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4DFF"/>
                </a:solidFill>
                <a:latin typeface="Calibri"/>
              </a:defRPr>
            </a:pPr>
            <a:r>
              <a:rPr lang="en-US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I/ML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87606"/>
            <a:ext cx="4754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LangChain RAG pipeline orchestration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Groq LLMs: Llama 3.3-70B (smart)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Llama 3.1-8B (fast query rephrasing)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5502005"/>
            <a:ext cx="5029200" cy="114300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0" y="5547725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F00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5867765"/>
            <a:ext cx="47548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MongoDB Atlas: document storage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 Search: cosine similarity index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Collections: users, FAQs, chat_history,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tickets, calendar, documents, analytics</a:t>
            </a:r>
          </a:p>
        </p:txBody>
      </p:sp>
      <p:pic>
        <p:nvPicPr>
          <p:cNvPr id="20" name="Picture 19" descr="A logo of a mountain range&#10;&#10;Description automatically generated">
            <a:extLst>
              <a:ext uri="{FF2B5EF4-FFF2-40B4-BE49-F238E27FC236}">
                <a16:creationId xmlns:a16="http://schemas.microsoft.com/office/drawing/2014/main" id="{DD43926E-7A52-9F4C-0AEF-95DE6ADBF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78" y="98434"/>
            <a:ext cx="814774" cy="97206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E9EB33C-4225-B6C0-3572-8B7B23162801}"/>
              </a:ext>
            </a:extLst>
          </p:cNvPr>
          <p:cNvSpPr txBox="1"/>
          <p:nvPr/>
        </p:nvSpPr>
        <p:spPr>
          <a:xfrm>
            <a:off x="968752" y="302830"/>
            <a:ext cx="609971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Aptos"/>
                <a:cs typeface="Segoe UI"/>
              </a:rPr>
              <a:t>SRI VENKATESWARA UNIVERSITY</a:t>
            </a:r>
            <a:r>
              <a:rPr lang="en-US" sz="2400" dirty="0">
                <a:solidFill>
                  <a:srgbClr val="0070C0"/>
                </a:solidFill>
                <a:latin typeface="Aptos"/>
                <a:cs typeface="Segoe UI"/>
              </a:rPr>
              <a:t>​</a:t>
            </a:r>
            <a:r>
              <a:rPr lang="en-US" sz="2400" dirty="0">
                <a:solidFill>
                  <a:srgbClr val="1E293B"/>
                </a:solidFill>
                <a:latin typeface="Aptos"/>
                <a:cs typeface="Segoe UI"/>
              </a:rPr>
              <a:t>​</a:t>
            </a:r>
          </a:p>
          <a:p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Accredited By </a:t>
            </a:r>
            <a:r>
              <a:rPr lang="en-US" dirty="0">
                <a:solidFill>
                  <a:srgbClr val="FF0000"/>
                </a:solidFill>
                <a:latin typeface="Aptos"/>
                <a:cs typeface="Segoe UI"/>
              </a:rPr>
              <a:t>‘NAAC’</a:t>
            </a:r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 With ‘</a:t>
            </a:r>
            <a:r>
              <a:rPr lang="en-US" dirty="0">
                <a:solidFill>
                  <a:srgbClr val="FF0000"/>
                </a:solidFill>
                <a:latin typeface="Aptos"/>
                <a:cs typeface="Segoe UI"/>
              </a:rPr>
              <a:t>A+’ Grade ​</a:t>
            </a:r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​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D07E1C2-A57E-F484-20FD-E00187B8B5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8097" y="334073"/>
            <a:ext cx="1377815" cy="6462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73251" y="1026695"/>
            <a:ext cx="71750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C107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&amp; Present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25651" y="1714507"/>
            <a:ext cx="6740697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2157658"/>
            <a:ext cx="5669280" cy="105156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203378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A5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Chat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23418"/>
            <a:ext cx="5303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conversational UI with markdown rendering, multi-language support (EN/TE/HI), and voice input/output.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346378"/>
            <a:ext cx="5669280" cy="105156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3392098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A5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12138"/>
            <a:ext cx="5303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uploads PDFs, URLs, and manual FAQs. Documents are chunked (1000 chars, 200 overlap) and vectorized.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535097"/>
            <a:ext cx="5669280" cy="105156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4580817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A5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00857"/>
            <a:ext cx="5303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Combines vector similarity (cosine ≥ 0.60) + keyword regex search + RRF fusion for maximum retrieval accuracy.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723818"/>
            <a:ext cx="5669280" cy="105156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5769538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A5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089578"/>
            <a:ext cx="5303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CRUD for FAQs, document management, user analytics, system logs, and ticket management.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157658"/>
            <a:ext cx="5303520" cy="457200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83680" y="2249098"/>
            <a:ext cx="493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107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 Results &amp;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797738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797738"/>
            <a:ext cx="1097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76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~80-85%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2797738"/>
            <a:ext cx="1463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campus-specific queries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282370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3282370"/>
            <a:ext cx="1097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76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3 seconds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3282370"/>
            <a:ext cx="1463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end-to-end latency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767002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 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767002"/>
            <a:ext cx="10972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76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15+ categories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3767002"/>
            <a:ext cx="1463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admissions, fees, exams, etc.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251634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Models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4251634"/>
            <a:ext cx="1097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76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models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4251634"/>
            <a:ext cx="1463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(70B) + Fast (8B)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736266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 Dimensions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4736266"/>
            <a:ext cx="1097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76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384-dim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4736266"/>
            <a:ext cx="1463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all-MiniLM-L6-v2 embeddings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220898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Threshold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5220898"/>
            <a:ext cx="1097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76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≥ 0.60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5220898"/>
            <a:ext cx="1463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 cutoff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5705530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Supported Languages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5705530"/>
            <a:ext cx="1097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76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5705530"/>
            <a:ext cx="1463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English, Telugu, Hindi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6190162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Endpoints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6190162"/>
            <a:ext cx="1097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76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routers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6190162"/>
            <a:ext cx="1463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modular REST API design</a:t>
            </a:r>
          </a:p>
        </p:txBody>
      </p:sp>
      <p:pic>
        <p:nvPicPr>
          <p:cNvPr id="45" name="Picture 44" descr="A logo of a mountain range&#10;&#10;Description automatically generated">
            <a:extLst>
              <a:ext uri="{FF2B5EF4-FFF2-40B4-BE49-F238E27FC236}">
                <a16:creationId xmlns:a16="http://schemas.microsoft.com/office/drawing/2014/main" id="{C9EDF23B-F9A0-238C-D350-E88BB2182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78" y="98434"/>
            <a:ext cx="814774" cy="97206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62A21561-6D83-C4CB-B88B-4442D5885881}"/>
              </a:ext>
            </a:extLst>
          </p:cNvPr>
          <p:cNvSpPr txBox="1"/>
          <p:nvPr/>
        </p:nvSpPr>
        <p:spPr>
          <a:xfrm>
            <a:off x="882062" y="256358"/>
            <a:ext cx="609971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Aptos"/>
                <a:cs typeface="Segoe UI"/>
              </a:rPr>
              <a:t>SRI VENKATESWARA UNIVERSITY</a:t>
            </a:r>
            <a:r>
              <a:rPr lang="en-US" sz="2400" dirty="0">
                <a:solidFill>
                  <a:srgbClr val="0070C0"/>
                </a:solidFill>
                <a:latin typeface="Aptos"/>
                <a:cs typeface="Segoe UI"/>
              </a:rPr>
              <a:t>​</a:t>
            </a:r>
            <a:r>
              <a:rPr lang="en-US" sz="2400" dirty="0">
                <a:solidFill>
                  <a:srgbClr val="1E293B"/>
                </a:solidFill>
                <a:latin typeface="Aptos"/>
                <a:cs typeface="Segoe UI"/>
              </a:rPr>
              <a:t>​</a:t>
            </a:r>
          </a:p>
          <a:p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Accredited By </a:t>
            </a:r>
            <a:r>
              <a:rPr lang="en-US" dirty="0">
                <a:solidFill>
                  <a:srgbClr val="FF0000"/>
                </a:solidFill>
                <a:latin typeface="Aptos"/>
                <a:cs typeface="Segoe UI"/>
              </a:rPr>
              <a:t>‘NAAC’</a:t>
            </a:r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 With ‘</a:t>
            </a:r>
            <a:r>
              <a:rPr lang="en-US" dirty="0">
                <a:solidFill>
                  <a:srgbClr val="FF0000"/>
                </a:solidFill>
                <a:latin typeface="Aptos"/>
                <a:cs typeface="Segoe UI"/>
              </a:rPr>
              <a:t>A+’ Grade ​</a:t>
            </a:r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​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54ADFAD9-0344-88E4-4090-A40662E19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8097" y="334073"/>
            <a:ext cx="1377815" cy="6462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94107" y="1116871"/>
            <a:ext cx="2889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C107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170983" y="1687116"/>
            <a:ext cx="2535382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2104655"/>
            <a:ext cx="5486400" cy="146304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297680" y="2196095"/>
            <a:ext cx="1463040" cy="274320"/>
          </a:xfrm>
          <a:prstGeom prst="rect">
            <a:avLst/>
          </a:prstGeom>
          <a:solidFill>
            <a:srgbClr val="009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97680" y="2168663"/>
            <a:ext cx="1463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Short-term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96095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07575"/>
            <a:ext cx="51206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native Android/iOS apps with push notifications for real-time campus updates and on-the-go access.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04655"/>
            <a:ext cx="5486400" cy="146304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058400" y="2196095"/>
            <a:ext cx="1463040" cy="274320"/>
          </a:xfrm>
          <a:prstGeom prst="rect">
            <a:avLst/>
          </a:prstGeom>
          <a:solidFill>
            <a:srgbClr val="009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0" y="2168663"/>
            <a:ext cx="1463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Short-term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96095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7575"/>
            <a:ext cx="51206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advanced speech-to-text (Whisper) and text-to-speech for natural voice conversations in regional languages.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50575"/>
            <a:ext cx="5486400" cy="146304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97680" y="3842015"/>
            <a:ext cx="1463040" cy="2743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97680" y="3814583"/>
            <a:ext cx="1463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Mid-term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842015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53495"/>
            <a:ext cx="51206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detailed analytics dashboards with sentiment analysis, usage trends, and predictive query patterns.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750575"/>
            <a:ext cx="5486400" cy="146304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b="0">
                <a:solidFill>
                  <a:srgbClr val="BBBBBB"/>
                </a:solidFill>
                <a:latin typeface="Calibri"/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058400" y="3842015"/>
            <a:ext cx="1463040" cy="2743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058400" y="3814583"/>
            <a:ext cx="1463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lang="en-US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Nearly implemented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55080" y="3842015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  <a:latin typeface="Calibri"/>
              </a:defRPr>
            </a:pPr>
            <a:r>
              <a:rPr lang="en-US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 Buddy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" y="5396495"/>
            <a:ext cx="5486400" cy="1103695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297680" y="5487935"/>
            <a:ext cx="1463040" cy="274320"/>
          </a:xfrm>
          <a:prstGeom prst="rect">
            <a:avLst/>
          </a:prstGeom>
          <a:solidFill>
            <a:srgbClr val="6C3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297680" y="5460503"/>
            <a:ext cx="1463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Long-term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487935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ERP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923268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</a:rPr>
              <a:t>Connect with university ERP systems for real-time fee payment status, attendance tracking, and grade queries.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5396495"/>
            <a:ext cx="5486400" cy="105156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0058400" y="5487935"/>
            <a:ext cx="1463040" cy="274320"/>
          </a:xfrm>
          <a:prstGeom prst="rect">
            <a:avLst/>
          </a:prstGeom>
          <a:solidFill>
            <a:srgbClr val="6C3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058400" y="5460503"/>
            <a:ext cx="1463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lang="en-US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Nearly Implemented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355080" y="5487935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  <a:latin typeface="Calibri"/>
              </a:defRPr>
            </a:pPr>
            <a:r>
              <a:rPr lang="en-US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Career </a:t>
            </a:r>
            <a:r>
              <a:rPr lang="en-US" dirty="0" err="1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55080" y="5923268"/>
            <a:ext cx="512064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BBBBB"/>
                </a:solidFill>
                <a:latin typeface="Calibri"/>
              </a:defRPr>
            </a:pPr>
            <a:r>
              <a:rPr lang="en-US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Career </a:t>
            </a:r>
            <a:r>
              <a:rPr lang="en-US" dirty="0" err="1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centre</a:t>
            </a:r>
            <a:r>
              <a:rPr lang="en-US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page consists of two features which is Resume checker and Resume Maker.</a:t>
            </a:r>
          </a:p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972800" y="7491665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</a:rPr>
              <a:t>11/11</a:t>
            </a:r>
          </a:p>
        </p:txBody>
      </p:sp>
      <p:pic>
        <p:nvPicPr>
          <p:cNvPr id="37" name="Picture 36" descr="A logo of a mountain range&#10;&#10;Description automatically generated">
            <a:extLst>
              <a:ext uri="{FF2B5EF4-FFF2-40B4-BE49-F238E27FC236}">
                <a16:creationId xmlns:a16="http://schemas.microsoft.com/office/drawing/2014/main" id="{4815FD5A-2FB9-6B31-62B7-1CFF756CA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78" y="98434"/>
            <a:ext cx="814774" cy="97206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28ADA6ED-A937-54A6-7734-986922834B63}"/>
              </a:ext>
            </a:extLst>
          </p:cNvPr>
          <p:cNvSpPr txBox="1"/>
          <p:nvPr/>
        </p:nvSpPr>
        <p:spPr>
          <a:xfrm>
            <a:off x="968752" y="287857"/>
            <a:ext cx="609971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Aptos"/>
                <a:cs typeface="Segoe UI"/>
              </a:rPr>
              <a:t>SRI VENKATESWARA UNIVERSITY</a:t>
            </a:r>
            <a:r>
              <a:rPr lang="en-US" sz="2400" dirty="0">
                <a:solidFill>
                  <a:srgbClr val="0070C0"/>
                </a:solidFill>
                <a:latin typeface="Aptos"/>
                <a:cs typeface="Segoe UI"/>
              </a:rPr>
              <a:t>​</a:t>
            </a:r>
            <a:r>
              <a:rPr lang="en-US" sz="2400" dirty="0">
                <a:solidFill>
                  <a:srgbClr val="1E293B"/>
                </a:solidFill>
                <a:latin typeface="Aptos"/>
                <a:cs typeface="Segoe UI"/>
              </a:rPr>
              <a:t>​</a:t>
            </a:r>
          </a:p>
          <a:p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Accredited By </a:t>
            </a:r>
            <a:r>
              <a:rPr lang="en-US" dirty="0">
                <a:solidFill>
                  <a:srgbClr val="FF0000"/>
                </a:solidFill>
                <a:latin typeface="Aptos"/>
                <a:cs typeface="Segoe UI"/>
              </a:rPr>
              <a:t>‘NAAC’</a:t>
            </a:r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 With ‘</a:t>
            </a:r>
            <a:r>
              <a:rPr lang="en-US" dirty="0">
                <a:solidFill>
                  <a:srgbClr val="FF0000"/>
                </a:solidFill>
                <a:latin typeface="Aptos"/>
                <a:cs typeface="Segoe UI"/>
              </a:rPr>
              <a:t>A+’ Grade ​</a:t>
            </a:r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​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8F94974-A7E9-AF70-F17D-8A06F4EDA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8097" y="334073"/>
            <a:ext cx="1377815" cy="646232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B3F9DD5D-2E40-8BF5-8320-C06C11169D53}"/>
              </a:ext>
            </a:extLst>
          </p:cNvPr>
          <p:cNvSpPr txBox="1"/>
          <p:nvPr/>
        </p:nvSpPr>
        <p:spPr>
          <a:xfrm>
            <a:off x="6296891" y="4423844"/>
            <a:ext cx="5425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Study Buddy page consists of two features which is study your notes and Zen AI.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77047" y="920305"/>
            <a:ext cx="2399607" cy="837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3600" b="1">
                <a:solidFill>
                  <a:srgbClr val="FFC107"/>
                </a:solidFill>
                <a:latin typeface="Calibri"/>
              </a:defRPr>
            </a:pPr>
            <a:r>
              <a:rPr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690517" y="1658969"/>
            <a:ext cx="2377951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9558" y="1713609"/>
            <a:ext cx="11760522" cy="5423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Folstad, A., &amp; </a:t>
            </a:r>
            <a:r>
              <a:rPr lang="en-US" sz="2000" dirty="0" err="1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Brandtzaeg</a:t>
            </a:r>
            <a:r>
              <a:rPr lang="en-US" sz="20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P. B. (2025). Chatbots and the new world of HCI. </a:t>
            </a:r>
            <a:r>
              <a:rPr lang="en-US" sz="2000" i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Interactions</a:t>
            </a:r>
            <a:r>
              <a:rPr lang="en-US" sz="20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24(4), 38-42.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Kuhail</a:t>
            </a:r>
            <a:r>
              <a:rPr lang="en-US" sz="20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M. A., </a:t>
            </a:r>
            <a:r>
              <a:rPr lang="en-US" sz="2000" dirty="0" err="1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Alturki</a:t>
            </a:r>
            <a:r>
              <a:rPr lang="en-US" sz="20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N., </a:t>
            </a:r>
            <a:r>
              <a:rPr lang="en-US" sz="2000" dirty="0" err="1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Alramlawi</a:t>
            </a:r>
            <a:r>
              <a:rPr lang="en-US" sz="20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S., &amp; </a:t>
            </a:r>
            <a:r>
              <a:rPr lang="en-US" sz="2000" dirty="0" err="1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Alhejori</a:t>
            </a:r>
            <a:r>
              <a:rPr lang="en-US" sz="20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K. (2023). Interacting with educational chatbots: A systematic review. </a:t>
            </a:r>
            <a:r>
              <a:rPr lang="en-US" sz="2000" i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 and Information Technologies</a:t>
            </a:r>
            <a:r>
              <a:rPr lang="en-US" sz="20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28(1), 973-1018.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AI-Driven Chatbot for Personalized University Information and Assistance,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2024 International Conference on Artificial Intelligence, Quantum Science and Applications (ICAIQSA)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 Xplore, Feb. 2025.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 (RAG) Chatbots for Education: A Survey of Applications,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 / MDPI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Unimib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Assistant: Designing a Student-Friendly RAG-Based Chatbot,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AIxHMI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Workshop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and Evaluation of a University Chatbot Using Deep Learning: A RAG Approach,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CONVERSATIONS Workshop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and RAG Powered Chatbot for the College of Computer Science and Mathematics, ResearchGate / IEEE Publication, Oct. 2024.</a:t>
            </a:r>
            <a:endParaRPr lang="en-US" sz="2000" dirty="0">
              <a:solidFill>
                <a:srgbClr val="1E293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 Venkateswara University. (2024). Official University Portal.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Retrieved from </a:t>
            </a:r>
            <a:r>
              <a:rPr lang="en-US" sz="20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https://svuniversity.edu.in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defRPr sz="1200" b="0">
                <a:solidFill>
                  <a:srgbClr val="BBBBBB"/>
                </a:solidFill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A logo of a mountain range&#10;&#10;Description automatically generated">
            <a:extLst>
              <a:ext uri="{FF2B5EF4-FFF2-40B4-BE49-F238E27FC236}">
                <a16:creationId xmlns:a16="http://schemas.microsoft.com/office/drawing/2014/main" id="{E9295763-62BA-BB3D-A236-41E5E1E85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78" y="98434"/>
            <a:ext cx="814774" cy="97206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3D9705C-1BFA-ACAD-8BAB-BBC713260E73}"/>
              </a:ext>
            </a:extLst>
          </p:cNvPr>
          <p:cNvSpPr txBox="1"/>
          <p:nvPr/>
        </p:nvSpPr>
        <p:spPr>
          <a:xfrm>
            <a:off x="968752" y="349406"/>
            <a:ext cx="609971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Aptos"/>
                <a:cs typeface="Segoe UI"/>
              </a:rPr>
              <a:t>SRI VENKATESWARA UNIVERSITY</a:t>
            </a:r>
            <a:r>
              <a:rPr lang="en-US" sz="2400" dirty="0">
                <a:solidFill>
                  <a:srgbClr val="0070C0"/>
                </a:solidFill>
                <a:latin typeface="Aptos"/>
                <a:cs typeface="Segoe UI"/>
              </a:rPr>
              <a:t>​</a:t>
            </a:r>
            <a:r>
              <a:rPr lang="en-US" sz="2400" dirty="0">
                <a:solidFill>
                  <a:srgbClr val="1E293B"/>
                </a:solidFill>
                <a:latin typeface="Aptos"/>
                <a:cs typeface="Segoe UI"/>
              </a:rPr>
              <a:t>​</a:t>
            </a:r>
          </a:p>
          <a:p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Accredited By </a:t>
            </a:r>
            <a:r>
              <a:rPr lang="en-US" dirty="0">
                <a:solidFill>
                  <a:srgbClr val="FF0000"/>
                </a:solidFill>
                <a:latin typeface="Aptos"/>
                <a:cs typeface="Segoe UI"/>
              </a:rPr>
              <a:t>‘NAAC’</a:t>
            </a:r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 With ‘</a:t>
            </a:r>
            <a:r>
              <a:rPr lang="en-US" dirty="0">
                <a:solidFill>
                  <a:srgbClr val="FF0000"/>
                </a:solidFill>
                <a:latin typeface="Aptos"/>
                <a:cs typeface="Segoe UI"/>
              </a:rPr>
              <a:t>A+’ Grade ​</a:t>
            </a:r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​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F191870-9FC5-43FD-0C99-79742A0ED1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8097" y="334073"/>
            <a:ext cx="1377815" cy="6462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71600" y="1828800"/>
            <a:ext cx="914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C107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017520"/>
            <a:ext cx="301752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144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SVU CampusConnect AI — Intelligent Campus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Calibri"/>
              </a:defRPr>
            </a:pPr>
            <a:r>
              <a:rPr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 &amp; Feedback Welcome</a:t>
            </a:r>
          </a:p>
        </p:txBody>
      </p:sp>
      <p:pic>
        <p:nvPicPr>
          <p:cNvPr id="9" name="Picture 8" descr="A logo of a mountain range&#10;&#10;Description automatically generated">
            <a:extLst>
              <a:ext uri="{FF2B5EF4-FFF2-40B4-BE49-F238E27FC236}">
                <a16:creationId xmlns:a16="http://schemas.microsoft.com/office/drawing/2014/main" id="{400A558E-AA9D-8EB2-3311-211CA56AF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78" y="98434"/>
            <a:ext cx="814774" cy="9720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21CE9DA-D62E-AEF0-18DC-BB7FFC565EAB}"/>
              </a:ext>
            </a:extLst>
          </p:cNvPr>
          <p:cNvSpPr txBox="1"/>
          <p:nvPr/>
        </p:nvSpPr>
        <p:spPr>
          <a:xfrm>
            <a:off x="968752" y="268195"/>
            <a:ext cx="61443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Aptos"/>
                <a:cs typeface="Segoe UI"/>
              </a:rPr>
              <a:t>SRI VENKATESWARA UNIVERSITY</a:t>
            </a:r>
            <a:r>
              <a:rPr lang="en-US" sz="2400" dirty="0">
                <a:solidFill>
                  <a:srgbClr val="0070C0"/>
                </a:solidFill>
                <a:latin typeface="Aptos"/>
                <a:cs typeface="Segoe UI"/>
              </a:rPr>
              <a:t>​</a:t>
            </a:r>
            <a:r>
              <a:rPr lang="en-US" sz="2400" dirty="0">
                <a:solidFill>
                  <a:srgbClr val="1E293B"/>
                </a:solidFill>
                <a:latin typeface="Aptos"/>
                <a:cs typeface="Segoe UI"/>
              </a:rPr>
              <a:t>​</a:t>
            </a:r>
          </a:p>
          <a:p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Accredited By </a:t>
            </a:r>
            <a:r>
              <a:rPr lang="en-US" dirty="0">
                <a:solidFill>
                  <a:srgbClr val="FF0000"/>
                </a:solidFill>
                <a:latin typeface="Aptos"/>
                <a:cs typeface="Segoe UI"/>
              </a:rPr>
              <a:t>‘NAAC’</a:t>
            </a:r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 With ‘</a:t>
            </a:r>
            <a:r>
              <a:rPr lang="en-US" dirty="0">
                <a:solidFill>
                  <a:srgbClr val="FF0000"/>
                </a:solidFill>
                <a:latin typeface="Aptos"/>
                <a:cs typeface="Segoe UI"/>
              </a:rPr>
              <a:t>A+’ Grade ​</a:t>
            </a:r>
            <a:r>
              <a:rPr lang="en-US" dirty="0">
                <a:solidFill>
                  <a:srgbClr val="1E293B"/>
                </a:solidFill>
                <a:latin typeface="Aptos"/>
                <a:cs typeface="Segoe UI"/>
              </a:rPr>
              <a:t>​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DA8D226-629A-F19A-82BC-6FE01EA4D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8097" y="334073"/>
            <a:ext cx="1377815" cy="6462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1748</Words>
  <Application>Microsoft Office PowerPoint</Application>
  <PresentationFormat>Widescreen</PresentationFormat>
  <Paragraphs>265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KAMASANI VISHNUVARDHAN REDDY</cp:lastModifiedBy>
  <cp:revision>22</cp:revision>
  <dcterms:created xsi:type="dcterms:W3CDTF">2013-01-27T09:14:16Z</dcterms:created>
  <dcterms:modified xsi:type="dcterms:W3CDTF">2026-03-10T04:47:29Z</dcterms:modified>
  <cp:category/>
</cp:coreProperties>
</file>